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embeddedFontLst>
    <p:embeddedFont>
      <p:font typeface="Arial Black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kejZL2d3MQmu/c+buNBNk507Y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Black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英文口說學習系統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AI-Powered English Learning Platform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200400" y="3474720"/>
            <a:ext cx="2743200" cy="2743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專案類型：全端 AI 應用程式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rPr>
              <a:t>動機與問題陳述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57200" y="1005840"/>
            <a:ext cx="39319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457200" y="1005840"/>
            <a:ext cx="73152" cy="2011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685800" y="10972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製作動機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85800" y="150876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icrosoft JhengHe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嘗試製作一個具有 AI 功能的應用程式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icrosoft JhengHe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利用 AI 作為個人化的英語老師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icrosoft JhengHe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從 YouTube 影片中學習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icrosoft JhengHe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自動生成學習計劃和詞彙表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754880" y="1005840"/>
            <a:ext cx="39319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754880" y="1005840"/>
            <a:ext cx="73152" cy="2011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983480" y="10972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AI 應用程式架構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983480" y="150876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icrosoft JhengHe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 影片攝取 (yt-dlp)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icrosoft JhengHe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2. AI 處理 (Whisper + LLM)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icrosoft JhengHe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3. 輸出 (學習計劃)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3291840"/>
            <a:ext cx="2194560" cy="6400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57200" y="329184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使用者提交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YouTube 網址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651760" y="329184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017520" y="3291840"/>
            <a:ext cx="2194560" cy="640080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017520" y="329184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處理流程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Whisper + LLM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212080" y="329184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577840" y="3291840"/>
            <a:ext cx="2194560" cy="6400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5577840" y="329184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輸出結果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學習計劃與詞彙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關鍵技術：llama-cpp-python - 嵌入式 LLM（無 API 費用）| faster-whisper - 語音轉文字逐字稿 | async/await - 非阻塞處理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rPr>
              <a:t>現場展示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57200" y="100584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594360" y="1143000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594360" y="11430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09728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提交 YouTube 網址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94360" y="164592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輸入影片 URL 開始處理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246120" y="100584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3383280" y="1143000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3383280" y="11430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886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觀看處理流程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383280" y="164592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下載 → 語音轉文字 → 分段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035040" y="100584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6172200" y="1143000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172200" y="11430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67512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檢視生成的內容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172200" y="164592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詞彙、語法、分段摘要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57200" y="251460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594360" y="2651760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594360" y="26517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97280" y="26974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互動式學習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94360" y="315468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同步字幕、詞彙提示、純聽力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246120" y="251460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383280" y="2651760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3383280" y="26517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886200" y="26974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口說練習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383280" y="315468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錄製發音、AI 回饋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035040" y="251460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172200" y="2651760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172200" y="26517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675120" y="26974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與 AI 導師聊天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172200" y="315468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繁體中文說明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rPr>
              <a:t>技術堆疊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57200" y="914400"/>
            <a:ext cx="265176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57200" y="914400"/>
            <a:ext cx="73152" cy="1508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640080" y="1005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rPr>
              <a:t>前端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40080" y="141732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Vue 3.5 + TypeScript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Vite + pnpm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Pinia 狀態管理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Tailwind CSS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246120" y="914400"/>
            <a:ext cx="265176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3246120" y="914400"/>
            <a:ext cx="73152" cy="1508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3429000" y="1005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rPr>
              <a:t>後端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429000" y="141732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FastAPI (Python 3.12)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SQLAlchemy 2.0 非同步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Pydantic v2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035040" y="914400"/>
            <a:ext cx="265176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6035040" y="914400"/>
            <a:ext cx="73152" cy="1508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6217920" y="1005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rPr>
              <a:t>資料庫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217920" y="141732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SQLite3 (WAL 模式)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learning.db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57200" y="2560320"/>
            <a:ext cx="265176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457200" y="2560320"/>
            <a:ext cx="73152" cy="1508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640080" y="26517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rPr>
              <a:t>AI/ML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40080" y="306324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llama-cpp-python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Qwen3.5-2B-Q4_K_M.gguf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faster-whisper (Tiny)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246120" y="2560320"/>
            <a:ext cx="265176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3246120" y="2560320"/>
            <a:ext cx="73152" cy="1508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3429000" y="26517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rPr>
              <a:t>影片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429000" y="306324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FFmpeg + yt-dlp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WebM/MP4 (720p)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035040" y="2560320"/>
            <a:ext cx="265176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6035040" y="2560320"/>
            <a:ext cx="73152" cy="1508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6217920" y="26517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rPr>
              <a:t>基礎設施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217920" y="306324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uv 套件管理器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GPUtil (NVIDIA GPU 偵測)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rPr>
              <a:t>系統架構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914400" y="914400"/>
            <a:ext cx="7315200" cy="640080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914400" y="9144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前端（Vue 3.5）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097280" y="1600200"/>
            <a:ext cx="1463040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1097280" y="16002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首頁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2743200" y="1600200"/>
            <a:ext cx="1463040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2743200" y="16002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影片播放器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389120" y="1600200"/>
            <a:ext cx="1463040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4389120" y="16002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口說練習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035040" y="1600200"/>
            <a:ext cx="2011680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6035040" y="16002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與 AI 導師聊天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914400" y="21031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↓ REST API 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914400" y="2423160"/>
            <a:ext cx="7315200" cy="6400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914400" y="24231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後端（FastAPI）- 非同步 I/O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097280" y="3108960"/>
            <a:ext cx="1737360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1097280" y="31089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影片服務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2926080" y="3108960"/>
            <a:ext cx="1737360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2926080" y="31089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LLM 服務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754880" y="3108960"/>
            <a:ext cx="1737360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4754880" y="31089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逐字稿服務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583680" y="3108960"/>
            <a:ext cx="1737360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6583680" y="31089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學習服務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097280" y="3611880"/>
            <a:ext cx="3200400" cy="502920"/>
          </a:xfrm>
          <a:prstGeom prst="rect">
            <a:avLst/>
          </a:prstGeom>
          <a:solidFill>
            <a:srgbClr val="CADC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1097280" y="361188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SQLite3 learning.db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297680" y="3611880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754880" y="3611880"/>
            <a:ext cx="3383280" cy="502920"/>
          </a:xfrm>
          <a:prstGeom prst="rect">
            <a:avLst/>
          </a:prstGeom>
          <a:solidFill>
            <a:srgbClr val="CADC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4754880" y="361188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llama-cpp-python (Qwen3.5-2B-Q4_K_M)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Microsoft JhengHe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📌 無需認證 - 單一用戶應用程式   |   📌 無背景佇列 - 所有操作皆為非同步處理   |   📌 單一固定 LLM 模型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rPr>
              <a:t>處理流程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365760" y="777240"/>
            <a:ext cx="15544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914400" y="868680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914400" y="868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57200" y="1371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下載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57200" y="16002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0891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yt-dlp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57200" y="17830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Microsoft JhengHe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下載影片 MP4/WebM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Microsoft JhengHe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同時下載 YouTube 字幕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1920240" y="123444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2103120" y="777240"/>
            <a:ext cx="15544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2651760" y="868680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2651760" y="868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194560" y="1371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語音轉文字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2194560" y="16002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0891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Whisper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2194560" y="17830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Microsoft JhengHe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使用 Tiny 模型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Microsoft JhengHe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擷取音訊並轉換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657600" y="123444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840480" y="777240"/>
            <a:ext cx="15544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4389120" y="868680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4389120" y="868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931920" y="1371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分段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3931920" y="16002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0891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句子對齊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931920" y="17830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Microsoft JhengHe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 分鐘為單位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Microsoft JhengHe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對齊至句子邊界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394960" y="123444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577840" y="777240"/>
            <a:ext cx="15544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6126480" y="868680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6126480" y="868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669280" y="1371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音訊擷取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5669280" y="16002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0891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FFmpeg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5669280" y="17830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Microsoft JhengHe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MP3 128kbps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Microsoft JhengHe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純聽力模式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7132320" y="123444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7315200" y="777240"/>
            <a:ext cx="15544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7863840" y="868680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7863840" y="868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7406640" y="1371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學習計劃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7406640" y="16002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Microsoft JhengHei"/>
              <a:buNone/>
            </a:pPr>
            <a:r>
              <a:rPr b="0" i="0" lang="en-US" sz="900" u="none" cap="none" strike="noStrike">
                <a:solidFill>
                  <a:srgbClr val="0891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LLM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7406640" y="17830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Microsoft JhengHe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生成詞彙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Microsoft JhengHe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語法和學習目標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檢查點恢復狀態機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731520" y="2880360"/>
            <a:ext cx="1371600" cy="320040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731520" y="28803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pending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2103120" y="288036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2423160" y="2880360"/>
            <a:ext cx="1371600" cy="320040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2423160" y="28803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downloading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114800" y="288036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389120" y="2880360"/>
            <a:ext cx="1371600" cy="3200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4389120" y="28803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downloading_complete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5989320" y="28803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→ 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7132320" y="2880360"/>
            <a:ext cx="1371600" cy="320040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7132320" y="28803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transcribing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548640" y="33832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...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280160" y="3383280"/>
            <a:ext cx="1371600" cy="3200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1280160" y="33832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chunking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2834640" y="338328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3108960" y="3383280"/>
            <a:ext cx="1371600" cy="320040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3108960" y="33832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audio_extracted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4480560" y="338328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→ 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937760" y="3383280"/>
            <a:ext cx="1371600" cy="320040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4937760" y="33832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studying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6309360" y="338328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583680" y="3383280"/>
            <a:ext cx="1371600" cy="3200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6583680" y="33832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ready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57200" y="38862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POST /api/videos/{id}/retry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重點程式碼 - Whisper 語音轉文字服務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solidFill>
            <a:srgbClr val="0D1B3D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640080" y="1005840"/>
            <a:ext cx="78638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# app/services/transcription_service.py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class WhisperTranscriptionService: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def _load_model(self):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from faster_whisper import WhisperModel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self._model = WhisperModel(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    self.model_size, </a:t>
            </a:r>
            <a:r>
              <a:rPr b="0" i="0" lang="en-US" sz="1200" u="none" cap="none" strike="noStrike">
                <a:solidFill>
                  <a:srgbClr val="CADCFC"/>
                </a:solidFill>
                <a:highlight>
                  <a:srgbClr val="434343"/>
                </a:highlight>
                <a:latin typeface="Consolas"/>
                <a:ea typeface="Consolas"/>
                <a:cs typeface="Consolas"/>
                <a:sym typeface="Consolas"/>
              </a:rPr>
              <a:t># Model sizes: tiny, base, small, medium, large-v3</a:t>
            </a:r>
            <a:endParaRPr b="0" i="0" sz="1200" u="none" cap="none" strike="noStrike">
              <a:solidFill>
                <a:schemeClr val="dk1"/>
              </a:solidFill>
              <a:highlight>
                <a:srgbClr val="434343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    device="cpu",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    compute_type="int8",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    cpu_threads=4,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async def transcribe(...) -&gt; List[dict]: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self._load_model()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segments, info = await asyncio.to_thread(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    lambda: self._model.transcribe(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        str(audio_path),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        language=language, </a:t>
            </a:r>
            <a:r>
              <a:rPr b="0" i="0" lang="en-US" sz="1200" u="none" cap="none" strike="noStrike">
                <a:solidFill>
                  <a:srgbClr val="CADCFC"/>
                </a:solidFill>
                <a:highlight>
                  <a:srgbClr val="434343"/>
                </a:highlight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-US" sz="1200">
                <a:solidFill>
                  <a:srgbClr val="CADCFC"/>
                </a:solidFill>
                <a:highlight>
                  <a:srgbClr val="434343"/>
                </a:highlight>
                <a:latin typeface="Consolas"/>
                <a:ea typeface="Consolas"/>
                <a:cs typeface="Consolas"/>
                <a:sym typeface="Consolas"/>
              </a:rPr>
              <a:t>‘en’ in here.</a:t>
            </a:r>
            <a:endParaRPr b="0" i="0" sz="1200" u="none" cap="none" strike="noStrike">
              <a:solidFill>
                <a:schemeClr val="dk1"/>
              </a:solidFill>
              <a:highlight>
                <a:srgbClr val="434343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        word_timestamps=word_timestamps,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        vad_filter=True,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        vad_parameters=dict(min_silence_duration_ms=500),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    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重點程式碼 - LLM 服務初始化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solidFill>
            <a:srgbClr val="0D1B3D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640080" y="1005840"/>
            <a:ext cx="78638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# app/services/llm_service.py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class LLMService: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def _ensure_model(self) -&gt; None: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from llama_cpp import Llama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self._model = Llama(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    model_path=str(self.model_path),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    n_ctx=n_ctx,           # 8192 tokens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    n_threads=n_threads,   # CPU 執行緒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    n_gpu_layers=config["n_gpu_layers"],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    verbose=False,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關鍵設計：使用 GPUtil 自動偵測 NVIDIA GPU，動態計算 n_gpu_layers 參數，支援 GPU 加速推論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重點程式碼 - 學習計劃生成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457200" y="914400"/>
            <a:ext cx="8229600" cy="2926080"/>
          </a:xfrm>
          <a:prstGeom prst="rect">
            <a:avLst/>
          </a:prstGeom>
          <a:solidFill>
            <a:srgbClr val="0D1B3D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640080" y="100584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CADCFC"/>
                </a:solidFill>
                <a:highlight>
                  <a:srgbClr val="434343"/>
                </a:highlight>
                <a:latin typeface="Consolas"/>
                <a:ea typeface="Consolas"/>
                <a:cs typeface="Consolas"/>
                <a:sym typeface="Consolas"/>
              </a:rPr>
              <a:t>SYSTEM_PROMPT = """You are an expert English language teacher. Your role is to analyze video transcripts and create personalized study plans for English learners.</a:t>
            </a:r>
            <a:endParaRPr sz="1100">
              <a:solidFill>
                <a:srgbClr val="CADCFC"/>
              </a:solidFill>
              <a:highlight>
                <a:srgbClr val="43434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CADC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async def generate_study_plan(...) -&gt; tuple[dict[str, Any], dict[str, float]]: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user_prompt = f"""Based on the following video transcript...</a:t>
            </a:r>
            <a:endParaRPr sz="1100">
              <a:solidFill>
                <a:srgbClr val="CADC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Transcript (first 4000 chars): {transcript_text[:4000]}</a:t>
            </a:r>
            <a:endParaRPr sz="1100">
              <a:solidFill>
                <a:srgbClr val="CADC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CADC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Generate a study plan with vocabulary, grammar, and chunk summaries.</a:t>
            </a:r>
            <a:endParaRPr sz="1100">
              <a:solidFill>
                <a:srgbClr val="CADC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IMPORTANT: All Chinese translations in TRADITIONAL Chinese (繁體中文) ONLY.</a:t>
            </a:r>
            <a:endParaRPr sz="1100">
              <a:solidFill>
                <a:srgbClr val="CADC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 sz="1100">
              <a:solidFill>
                <a:srgbClr val="CADC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messages = [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0" i="0" lang="en-US" sz="1100" u="none" cap="none" strike="noStrike">
                <a:solidFill>
                  <a:srgbClr val="CADCFC"/>
                </a:solidFill>
                <a:highlight>
                  <a:srgbClr val="434343"/>
                </a:highlight>
                <a:latin typeface="Consolas"/>
                <a:ea typeface="Consolas"/>
                <a:cs typeface="Consolas"/>
                <a:sym typeface="Consolas"/>
              </a:rPr>
              <a:t>{"role": "system", "content": SYSTEM_PROMPT},</a:t>
            </a:r>
            <a:endParaRPr b="0" i="0" sz="1100" u="none" cap="none" strike="noStrike">
              <a:solidFill>
                <a:schemeClr val="dk1"/>
              </a:solidFill>
              <a:highlight>
                <a:srgbClr val="434343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0" i="0" lang="en-US" sz="1100" u="none" cap="none" strike="noStrike">
                <a:solidFill>
                  <a:srgbClr val="CADCFC"/>
                </a:solidFill>
                <a:highlight>
                  <a:srgbClr val="434343"/>
                </a:highlight>
                <a:latin typeface="Consolas"/>
                <a:ea typeface="Consolas"/>
                <a:cs typeface="Consolas"/>
                <a:sym typeface="Consolas"/>
              </a:rPr>
              <a:t>{"role": "user", "content": user_prompt},</a:t>
            </a:r>
            <a:endParaRPr b="0" i="0" sz="1100" u="none" cap="none" strike="noStrike">
              <a:solidFill>
                <a:schemeClr val="dk1"/>
              </a:solidFill>
              <a:highlight>
                <a:srgbClr val="434343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  response = await self._generate_response(messages)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rPr>
              <a:t>問題與解決方案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731520" y="1097280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731520" y="1097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1463040" y="11430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CUDA 支援與 Python 版本問題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731520" y="1737360"/>
            <a:ext cx="7680960" cy="7315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200"/>
              <a:buFont typeface="Microsoft JhengHei"/>
              <a:buNone/>
            </a:pPr>
            <a:r>
              <a:rPr b="0" i="0" lang="en-US" sz="1200" u="none" cap="none" strike="noStrike">
                <a:solidFill>
                  <a:srgbClr val="991B1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🔴 問題：llama-cpp-python 搭配 CUDA 支援需要特定的 Python 版本（Python 3.10 ~ 3.12）。Python 3.13+ 不支援。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Arial Black"/>
                <a:ea typeface="Arial Black"/>
                <a:cs typeface="Arial Black"/>
                <a:sym typeface="Arial Black"/>
              </a:rPr>
              <a:t>✅ 解決方案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914400" y="301752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icrosoft JhengHe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使用 Python 3.12 作為必要版本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icrosoft JhengHe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 Python 3.13+ 上設定 LLM_GPU_LAYERS=0 以使用 CPU 模式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icrosoft JhengHe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新增執行期偵測和優雅降級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rPr>
              <a:t>問題與解決方案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731520" y="1097280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731520" y="1097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1463040" y="11430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瀏覽器音訊錄製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731520" y="1737360"/>
            <a:ext cx="7680960" cy="7315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200"/>
              <a:buFont typeface="Microsoft JhengHei"/>
              <a:buNone/>
            </a:pPr>
            <a:r>
              <a:rPr b="0" i="0" lang="en-US" sz="1200" u="none" cap="none" strike="noStrike">
                <a:solidFill>
                  <a:srgbClr val="991B1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🔴 問題：瀏覽器需要 HTTPS 才能透過 MediaRecorder API 存取麥克風。使用 HTTP 的開發伺服器會無聲失敗。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Arial Black"/>
                <a:ea typeface="Arial Black"/>
                <a:cs typeface="Arial Black"/>
                <a:sym typeface="Arial Black"/>
              </a:rPr>
              <a:t>✅ 解決方案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icrosoft JhengHe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為開發環境產生自簽 SSL 憑證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icrosoft JhengHei"/>
              <a:buChar char="•"/>
            </a:pPr>
            <a:r>
              <a:rPr lang="en-US" sz="120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啟動 </a:t>
            </a:r>
            <a:r>
              <a:rPr lang="en-US" sz="1200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uvicorn 時</a:t>
            </a:r>
            <a:r>
              <a:rPr b="0" i="0" lang="en-US" sz="12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使用 SSL</a:t>
            </a:r>
            <a:r>
              <a:rPr b="0" i="0" lang="en-US" sz="12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icrosoft JhengHe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更新 CORS 設定以支援 HTTPS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icrosoft JhengHe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或使用 ngrok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731520" y="4114800"/>
            <a:ext cx="768096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914400" y="416052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openssl req -x509 -newkey rsa:2048 -keyout key.pem -out cert.pem -days 365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rPr>
              <a:t>問題與解決方案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731520" y="1097280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731520" y="1097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1463040" y="11430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繁體中文支援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731520" y="1737360"/>
            <a:ext cx="7680960" cy="7315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200"/>
              <a:buFont typeface="Microsoft JhengHei"/>
              <a:buNone/>
            </a:pPr>
            <a:r>
              <a:rPr b="0" i="0" lang="en-US" sz="1200" u="none" cap="none" strike="noStrike">
                <a:solidFill>
                  <a:srgbClr val="991B1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🔴 問題：LLM 可能會生成簡體中文而非繁體中文。需要一致的繁體中文。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Arial Black"/>
                <a:ea typeface="Arial Black"/>
                <a:cs typeface="Arial Black"/>
                <a:sym typeface="Arial Black"/>
              </a:rPr>
              <a:t>✅ 解決方案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914400" y="3017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icrosoft JhengHe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在系統提示中加入明確指示：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1097280" y="338328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065F4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IMPORTANT: All Chinese translations MUST be in TRADITIONAL Chinese (繁體中文) ONLY. </a:t>
            </a:r>
            <a:endParaRPr sz="1200">
              <a:solidFill>
                <a:srgbClr val="065F46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200"/>
              <a:buFont typeface="Microsoft JhengHei"/>
              <a:buNone/>
            </a:pPr>
            <a:r>
              <a:rPr lang="en-US" sz="1200">
                <a:solidFill>
                  <a:srgbClr val="065F4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Examples: 學習 not 学习, 詞匯 not 词汇</a:t>
            </a:r>
            <a:endParaRPr sz="1200">
              <a:solidFill>
                <a:srgbClr val="065F46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rPr>
              <a:t>未來改進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457200" y="914400"/>
            <a:ext cx="73152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457200" y="914400"/>
            <a:ext cx="731520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640080" y="9875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1097280" y="100584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模型升級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3383280" y="100584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Microsoft JhengHe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更大的 LLM 以獲得更好的推論品質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457200" y="1645920"/>
            <a:ext cx="73152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457200" y="1645920"/>
            <a:ext cx="731520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640080" y="1719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1097280" y="173736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多語言支援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3383280" y="173736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Microsoft JhengHe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支援中文/英文以外的多語言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457200" y="2377440"/>
            <a:ext cx="73152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3"/>
          <p:cNvSpPr/>
          <p:nvPr/>
        </p:nvSpPr>
        <p:spPr>
          <a:xfrm>
            <a:off x="457200" y="2377440"/>
            <a:ext cx="731520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640080" y="2450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1097280" y="246888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進階 ASR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3383280" y="24688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Microsoft JhengHe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使用進階 ASR 改善發音回饋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457200" y="3108960"/>
            <a:ext cx="73152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457200" y="3108960"/>
            <a:ext cx="731520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640080" y="31821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1097280" y="32004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Docker Compose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3383280" y="320040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Microsoft JhengHe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簡化部署流程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457200" y="3840480"/>
            <a:ext cx="73152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457200" y="3840480"/>
            <a:ext cx="731520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640080" y="39136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1097280" y="393192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多用戶支援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3383280" y="393192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Microsoft JhengHe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多用戶支援與認證系統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 Black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 &amp; A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3200400" y="3108960"/>
            <a:ext cx="2743200" cy="2743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800"/>
              <a:buFont typeface="Microsoft JhengHei"/>
              <a:buNone/>
            </a:pPr>
            <a:r>
              <a:rPr b="0" i="0" lang="en-US" sz="2800" u="none" cap="none" strike="noStrike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問答時間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Arial Black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Thank You!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200"/>
              <a:buFont typeface="Microsoft JhengHei"/>
              <a:buNone/>
            </a:pPr>
            <a:r>
              <a:rPr b="0" i="0" lang="en-US" sz="3200" u="none" cap="none" strike="noStrike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感謝聆聽！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3200400" y="3017520"/>
            <a:ext cx="2743200" cy="2743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5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GitHub：https://github.com/Yeh-Jack/speak.git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Demo：https://unshaven-travesty-luckless.ngrok-free.dev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2026-06-11T18:02:19Z</dcterms:created>
  <dc:creator>AI Learning Platform</dc:creator>
</cp:coreProperties>
</file>